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M Sans Bold" charset="1" panose="00000000000000000000"/>
      <p:regular r:id="rId18"/>
    </p:embeddedFont>
    <p:embeddedFont>
      <p:font typeface="Archivo Black" charset="1" panose="020B0A03020202020B04"/>
      <p:regular r:id="rId19"/>
    </p:embeddedFont>
    <p:embeddedFont>
      <p:font typeface="DM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80000">
            <a:off x="-857250" y="7048500"/>
            <a:ext cx="7239000" cy="4095750"/>
            <a:chOff x="0" y="0"/>
            <a:chExt cx="9652000" cy="546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52000" cy="5461000"/>
            </a:xfrm>
            <a:custGeom>
              <a:avLst/>
              <a:gdLst/>
              <a:ahLst/>
              <a:cxnLst/>
              <a:rect r="r" b="b" t="t" l="l"/>
              <a:pathLst>
                <a:path h="5461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7B22E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52000" cy="549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819150"/>
            <a:ext cx="2000250" cy="190500"/>
            <a:chOff x="0" y="0"/>
            <a:chExt cx="2667000" cy="25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67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667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810750" y="667492"/>
            <a:ext cx="7524750" cy="8571017"/>
          </a:xfrm>
          <a:custGeom>
            <a:avLst/>
            <a:gdLst/>
            <a:ahLst/>
            <a:cxnLst/>
            <a:rect r="r" b="b" t="t" l="l"/>
            <a:pathLst>
              <a:path h="8571017" w="7524750">
                <a:moveTo>
                  <a:pt x="0" y="0"/>
                </a:moveTo>
                <a:lnTo>
                  <a:pt x="7524750" y="0"/>
                </a:lnTo>
                <a:lnTo>
                  <a:pt x="7524750" y="8571016"/>
                </a:lnTo>
                <a:lnTo>
                  <a:pt x="0" y="85710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" r="0" b="-24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857250" y="1152525"/>
            <a:ext cx="6667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68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AIML CA2 · PART 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2171700"/>
            <a:ext cx="9048750" cy="311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4"/>
              </a:lnSpc>
            </a:pPr>
            <a:r>
              <a:rPr lang="en-US" sz="8250">
                <a:solidFill>
                  <a:srgbClr val="290606"/>
                </a:solidFill>
                <a:latin typeface="Archivo Black"/>
                <a:ea typeface="Archivo Black"/>
                <a:cs typeface="Archivo Black"/>
                <a:sym typeface="Archivo Black"/>
              </a:rPr>
              <a:t>Energy</a:t>
            </a:r>
          </a:p>
          <a:p>
            <a:pPr algn="l">
              <a:lnSpc>
                <a:spcPts val="8084"/>
              </a:lnSpc>
            </a:pPr>
            <a:r>
              <a:rPr lang="en-US" sz="8250">
                <a:solidFill>
                  <a:srgbClr val="290606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Consumption</a:t>
            </a:r>
          </a:p>
          <a:p>
            <a:pPr algn="l">
              <a:lnSpc>
                <a:spcPts val="8084"/>
              </a:lnSpc>
            </a:pPr>
            <a:r>
              <a:rPr lang="en-US" sz="8250">
                <a:solidFill>
                  <a:srgbClr val="290606"/>
                </a:solidFill>
                <a:latin typeface="Archivo Black"/>
                <a:ea typeface="Archivo Black"/>
                <a:cs typeface="Archivo Black"/>
                <a:sym typeface="Archivo Black"/>
              </a:rPr>
              <a:t>Forecasting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5350" y="5886450"/>
            <a:ext cx="4762500" cy="540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50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Time Series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4875" y="6677025"/>
            <a:ext cx="59055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290606"/>
                </a:solidFill>
                <a:latin typeface="DM Sans"/>
                <a:ea typeface="DM Sans"/>
                <a:cs typeface="DM Sans"/>
                <a:sym typeface="DM Sans"/>
              </a:rPr>
              <a:t>Presented by Yan Myoe Naing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7250" y="9705975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AIML CA2 · TIME SERIES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73500" y="9686925"/>
            <a:ext cx="8572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800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2563" y="1476375"/>
            <a:ext cx="7425874" cy="4953000"/>
          </a:xfrm>
          <a:custGeom>
            <a:avLst/>
            <a:gdLst/>
            <a:ahLst/>
            <a:cxnLst/>
            <a:rect r="r" b="b" t="t" l="l"/>
            <a:pathLst>
              <a:path h="4953000" w="7425874">
                <a:moveTo>
                  <a:pt x="0" y="0"/>
                </a:moveTo>
                <a:lnTo>
                  <a:pt x="7425874" y="0"/>
                </a:lnTo>
                <a:lnTo>
                  <a:pt x="7425874" y="4953000"/>
                </a:lnTo>
                <a:lnTo>
                  <a:pt x="0" y="495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" t="0" r="-55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096375" y="6334125"/>
            <a:ext cx="9191625" cy="3000375"/>
            <a:chOff x="0" y="0"/>
            <a:chExt cx="12255500" cy="4000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555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12255500">
                  <a:moveTo>
                    <a:pt x="0" y="0"/>
                  </a:moveTo>
                  <a:lnTo>
                    <a:pt x="12255500" y="0"/>
                  </a:lnTo>
                  <a:lnTo>
                    <a:pt x="122555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255500" cy="4038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57250" y="676275"/>
            <a:ext cx="2857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7B22E8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1485900"/>
            <a:ext cx="8096250" cy="183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6"/>
              </a:lnSpc>
            </a:pPr>
            <a:r>
              <a:rPr lang="en-US" sz="7200">
                <a:solidFill>
                  <a:srgbClr val="290606"/>
                </a:solidFill>
                <a:latin typeface="Archivo Black"/>
                <a:ea typeface="Archivo Black"/>
                <a:cs typeface="Archivo Black"/>
                <a:sym typeface="Archivo Black"/>
              </a:rPr>
              <a:t>397 monthly</a:t>
            </a:r>
          </a:p>
          <a:p>
            <a:pPr algn="l">
              <a:lnSpc>
                <a:spcPts val="7056"/>
              </a:lnSpc>
            </a:pPr>
            <a:r>
              <a:rPr lang="en-US" sz="7200">
                <a:solidFill>
                  <a:srgbClr val="290606"/>
                </a:solidFill>
                <a:latin typeface="Archivo Black"/>
                <a:ea typeface="Archivo Black"/>
                <a:cs typeface="Archivo Black"/>
                <a:sym typeface="Archivo Black"/>
              </a:rPr>
              <a:t>records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3648075"/>
            <a:ext cx="6667500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JAN 1990 → JAN 2023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4600575"/>
            <a:ext cx="7239000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290606"/>
                </a:solidFill>
                <a:latin typeface="DM Sans"/>
                <a:ea typeface="DM Sans"/>
                <a:cs typeface="DM Sans"/>
                <a:sym typeface="DM Sans"/>
              </a:rPr>
              <a:t>No missing data</a:t>
            </a:r>
          </a:p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290606"/>
                </a:solidFill>
                <a:latin typeface="DM Sans"/>
                <a:ea typeface="DM Sans"/>
                <a:cs typeface="DM Sans"/>
                <a:sym typeface="DM Sans"/>
              </a:rPr>
              <a:t>DATE parsed as day/month/year index</a:t>
            </a:r>
          </a:p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290606"/>
                </a:solidFill>
                <a:latin typeface="DM Sans"/>
                <a:ea typeface="DM Sans"/>
                <a:cs typeface="DM Sans"/>
                <a:sym typeface="DM Sans"/>
              </a:rPr>
              <a:t>Goal: 60-month forecasts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0" y="7143750"/>
            <a:ext cx="6762750" cy="34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GAS  tons    ·    ELECTRICITY  MWh    ·    WATER  tons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" y="9705975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AIML CA2 · TIME SERIES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73500" y="9686925"/>
            <a:ext cx="8572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800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63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28650"/>
            <a:ext cx="6667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02B676"/>
                </a:solidFill>
                <a:latin typeface="DM Sans Bold"/>
                <a:ea typeface="DM Sans Bold"/>
                <a:cs typeface="DM Sans Bold"/>
                <a:sym typeface="DM Sans Bold"/>
              </a:rPr>
              <a:t>PATTERNS · m = 12 MONTHS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295400"/>
            <a:ext cx="10477500" cy="159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7"/>
              </a:lnSpc>
            </a:pPr>
            <a:r>
              <a:rPr lang="en-US" sz="61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Every utility moves</a:t>
            </a:r>
          </a:p>
          <a:p>
            <a:pPr algn="l">
              <a:lnSpc>
                <a:spcPts val="6027"/>
              </a:lnSpc>
            </a:pPr>
            <a:r>
              <a:rPr lang="en-US" sz="61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differently.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4762500"/>
            <a:ext cx="4762500" cy="3714750"/>
            <a:chOff x="0" y="0"/>
            <a:chExt cx="6350000" cy="495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350000" cy="499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77000" y="4762500"/>
            <a:ext cx="4762500" cy="3714750"/>
            <a:chOff x="0" y="0"/>
            <a:chExt cx="6350000" cy="495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0" cy="499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96750" y="4762500"/>
            <a:ext cx="4762500" cy="3714750"/>
            <a:chOff x="0" y="0"/>
            <a:chExt cx="6350000" cy="495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7B22E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350000" cy="499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23950" y="5000625"/>
            <a:ext cx="4114800" cy="2941320"/>
            <a:chOff x="0" y="0"/>
            <a:chExt cx="5486400" cy="392176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85725"/>
              <a:ext cx="1524000" cy="849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7"/>
                </a:lnSpc>
              </a:pPr>
              <a:r>
                <a:rPr lang="en-US" sz="46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5400" y="1158875"/>
              <a:ext cx="5461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spc="17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ELECTRICITY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5400" y="2076450"/>
              <a:ext cx="5461000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2"/>
                </a:lnSpc>
              </a:pPr>
              <a:r>
                <a:rPr lang="en-US" sz="22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↗  Upward trend + annual cycle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5400" y="3546475"/>
              <a:ext cx="54610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Multiplicative decomposition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43700" y="5000625"/>
            <a:ext cx="4114800" cy="2941320"/>
            <a:chOff x="0" y="0"/>
            <a:chExt cx="5486400" cy="392176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85725"/>
              <a:ext cx="1524000" cy="849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7"/>
                </a:lnSpc>
              </a:pPr>
              <a:r>
                <a:rPr lang="en-US" sz="46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5400" y="1158875"/>
              <a:ext cx="5461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spc="17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GAS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5400" y="2076450"/>
              <a:ext cx="5461000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2"/>
                </a:lnSpc>
              </a:pPr>
              <a:r>
                <a:rPr lang="en-US" sz="22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↕  Fluctuating trend + annual cycle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5400" y="3546475"/>
              <a:ext cx="54610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Additive decomposition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63450" y="5000625"/>
            <a:ext cx="4114800" cy="2941320"/>
            <a:chOff x="0" y="0"/>
            <a:chExt cx="5486400" cy="392176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85725"/>
              <a:ext cx="1524000" cy="849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7"/>
                </a:lnSpc>
              </a:pPr>
              <a:r>
                <a:rPr lang="en-US" sz="46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5400" y="1158875"/>
              <a:ext cx="5461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spc="17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WATER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5400" y="2076450"/>
              <a:ext cx="5461000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2"/>
                </a:lnSpc>
              </a:pPr>
              <a:r>
                <a:rPr lang="en-US" sz="22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≈  Irregular fluctuations + annual cycle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5400" y="3546475"/>
              <a:ext cx="54610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Additive decomposition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857250" y="9705975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02B676"/>
                </a:solidFill>
                <a:latin typeface="DM Sans Bold"/>
                <a:ea typeface="DM Sans Bold"/>
                <a:cs typeface="DM Sans Bold"/>
                <a:sym typeface="DM Sans Bold"/>
              </a:rPr>
              <a:t>AIML CA2 · TIME SERIES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573500" y="9686925"/>
            <a:ext cx="8572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8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628650"/>
            <a:ext cx="5715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7B22E8"/>
                </a:solidFill>
                <a:latin typeface="DM Sans Bold"/>
                <a:ea typeface="DM Sans Bold"/>
                <a:cs typeface="DM Sans Bold"/>
                <a:sym typeface="DM Sans Bold"/>
              </a:rPr>
              <a:t>CHRONOLOGICAL SPLIT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304925"/>
            <a:ext cx="14287500" cy="70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5400">
                <a:solidFill>
                  <a:srgbClr val="290606"/>
                </a:solidFill>
                <a:latin typeface="Archivo Black"/>
                <a:ea typeface="Archivo Black"/>
                <a:cs typeface="Archivo Black"/>
                <a:sym typeface="Archivo Black"/>
              </a:rPr>
              <a:t>No shuffling. Time stays in order.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7250" y="7410450"/>
            <a:ext cx="13811250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2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290606"/>
                </a:solidFill>
                <a:latin typeface="DM Sans"/>
                <a:ea typeface="DM Sans"/>
                <a:cs typeface="DM Sans"/>
                <a:sym typeface="DM Sans"/>
              </a:rPr>
              <a:t>Training fits the models. Validation supports tuning. The final 60 months form the test period.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7250" y="3714750"/>
            <a:ext cx="8572500" cy="1619250"/>
            <a:chOff x="0" y="0"/>
            <a:chExt cx="11430000" cy="215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3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430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29750" y="3714750"/>
            <a:ext cx="3714750" cy="1619250"/>
            <a:chOff x="0" y="0"/>
            <a:chExt cx="4953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5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953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44500" y="3714750"/>
            <a:ext cx="3714750" cy="1619250"/>
            <a:chOff x="0" y="0"/>
            <a:chExt cx="4953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5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7B22E8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953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85850" y="3990975"/>
            <a:ext cx="8115300" cy="3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TRAIN · 277 MONTHS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5850" y="4610100"/>
            <a:ext cx="81153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 1990 — Jan 2013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58350" y="3990975"/>
            <a:ext cx="3257550" cy="3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VALIDATION · 60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58350" y="4610100"/>
            <a:ext cx="32575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Feb 2013 — Jan 2018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73100" y="3990975"/>
            <a:ext cx="3257550" cy="3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TEST · 60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73100" y="4610100"/>
            <a:ext cx="32575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Feb 2018 — Jan 2023</a:t>
            </a:r>
          </a:p>
        </p:txBody>
      </p:sp>
      <p:sp>
        <p:nvSpPr>
          <p:cNvPr name="AutoShape 20" id="20"/>
          <p:cNvSpPr/>
          <p:nvPr/>
        </p:nvSpPr>
        <p:spPr>
          <a:xfrm>
            <a:off x="857250" y="5667375"/>
            <a:ext cx="16002000" cy="0"/>
          </a:xfrm>
          <a:prstGeom prst="line">
            <a:avLst/>
          </a:prstGeom>
          <a:ln cap="rnd" w="47625">
            <a:solidFill>
              <a:srgbClr val="29060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742950" y="5534025"/>
            <a:ext cx="266700" cy="266700"/>
            <a:chOff x="0" y="0"/>
            <a:chExt cx="355600" cy="355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2906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6744950" y="5534025"/>
            <a:ext cx="266700" cy="266700"/>
            <a:chOff x="0" y="0"/>
            <a:chExt cx="355600" cy="355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290606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857250" y="9705975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AIML CA2 · TIME SERIES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73500" y="9686925"/>
            <a:ext cx="8572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800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5715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7B22E8"/>
                </a:solidFill>
                <a:latin typeface="DM Sans Bold"/>
                <a:ea typeface="DM Sans Bold"/>
                <a:cs typeface="DM Sans Bold"/>
                <a:sym typeface="DM Sans Bold"/>
              </a:rPr>
              <a:t>ADF STATIONARITY TEST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257300"/>
            <a:ext cx="7620000" cy="145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>
                <a:solidFill>
                  <a:srgbClr val="290606"/>
                </a:solidFill>
                <a:latin typeface="Archivo Black"/>
                <a:ea typeface="Archivo Black"/>
                <a:cs typeface="Archivo Black"/>
                <a:sym typeface="Archivo Black"/>
              </a:rPr>
              <a:t>One series needs</a:t>
            </a:r>
          </a:p>
          <a:p>
            <a:pPr algn="l">
              <a:lnSpc>
                <a:spcPts val="5586"/>
              </a:lnSpc>
            </a:pPr>
            <a:r>
              <a:rPr lang="en-US" sz="5700">
                <a:solidFill>
                  <a:srgbClr val="290606"/>
                </a:solidFill>
                <a:latin typeface="Archivo Black"/>
                <a:ea typeface="Archivo Black"/>
                <a:cs typeface="Archivo Black"/>
                <a:sym typeface="Archivo Black"/>
              </a:rPr>
              <a:t>a first difference.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4875" y="7991475"/>
            <a:ext cx="6858000" cy="58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90606"/>
                </a:solidFill>
                <a:latin typeface="DM Sans"/>
                <a:ea typeface="DM Sans"/>
                <a:cs typeface="DM Sans"/>
                <a:sym typeface="DM Sans"/>
              </a:rPr>
              <a:t>ADF tests a unit root; it does not assess every aspect of stationarity.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667750" y="1047750"/>
            <a:ext cx="3476625" cy="2714625"/>
            <a:chOff x="0" y="0"/>
            <a:chExt cx="4635500" cy="3619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35500" cy="3619500"/>
            </a:xfrm>
            <a:custGeom>
              <a:avLst/>
              <a:gdLst/>
              <a:ahLst/>
              <a:cxnLst/>
              <a:rect r="r" b="b" t="t" l="l"/>
              <a:pathLst>
                <a:path h="3619500" w="4635500">
                  <a:moveTo>
                    <a:pt x="0" y="0"/>
                  </a:moveTo>
                  <a:lnTo>
                    <a:pt x="4635500" y="0"/>
                  </a:lnTo>
                  <a:lnTo>
                    <a:pt x="4635500" y="3619500"/>
                  </a:lnTo>
                  <a:lnTo>
                    <a:pt x="0" y="3619500"/>
                  </a:ln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35500" cy="365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620625" y="1047750"/>
            <a:ext cx="3476625" cy="2714625"/>
            <a:chOff x="0" y="0"/>
            <a:chExt cx="4635500" cy="3619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35500" cy="3619500"/>
            </a:xfrm>
            <a:custGeom>
              <a:avLst/>
              <a:gdLst/>
              <a:ahLst/>
              <a:cxnLst/>
              <a:rect r="r" b="b" t="t" l="l"/>
              <a:pathLst>
                <a:path h="3619500" w="4635500">
                  <a:moveTo>
                    <a:pt x="0" y="0"/>
                  </a:moveTo>
                  <a:lnTo>
                    <a:pt x="4635500" y="0"/>
                  </a:lnTo>
                  <a:lnTo>
                    <a:pt x="4635500" y="3619500"/>
                  </a:lnTo>
                  <a:lnTo>
                    <a:pt x="0" y="36195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35500" cy="365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667750" y="4238625"/>
            <a:ext cx="3476625" cy="2714625"/>
            <a:chOff x="0" y="0"/>
            <a:chExt cx="4635500" cy="3619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35500" cy="3619500"/>
            </a:xfrm>
            <a:custGeom>
              <a:avLst/>
              <a:gdLst/>
              <a:ahLst/>
              <a:cxnLst/>
              <a:rect r="r" b="b" t="t" l="l"/>
              <a:pathLst>
                <a:path h="3619500" w="4635500">
                  <a:moveTo>
                    <a:pt x="0" y="0"/>
                  </a:moveTo>
                  <a:lnTo>
                    <a:pt x="4635500" y="0"/>
                  </a:lnTo>
                  <a:lnTo>
                    <a:pt x="4635500" y="3619500"/>
                  </a:lnTo>
                  <a:lnTo>
                    <a:pt x="0" y="3619500"/>
                  </a:lnTo>
                  <a:close/>
                </a:path>
              </a:pathLst>
            </a:custGeom>
            <a:solidFill>
              <a:srgbClr val="7B22E8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35500" cy="365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620625" y="4238625"/>
            <a:ext cx="3476625" cy="2714625"/>
            <a:chOff x="0" y="0"/>
            <a:chExt cx="4635500" cy="3619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5500" cy="3619500"/>
            </a:xfrm>
            <a:custGeom>
              <a:avLst/>
              <a:gdLst/>
              <a:ahLst/>
              <a:cxnLst/>
              <a:rect r="r" b="b" t="t" l="l"/>
              <a:pathLst>
                <a:path h="3619500" w="4635500">
                  <a:moveTo>
                    <a:pt x="0" y="0"/>
                  </a:moveTo>
                  <a:lnTo>
                    <a:pt x="4635500" y="0"/>
                  </a:lnTo>
                  <a:lnTo>
                    <a:pt x="4635500" y="3619500"/>
                  </a:lnTo>
                  <a:lnTo>
                    <a:pt x="0" y="3619500"/>
                  </a:lnTo>
                  <a:close/>
                </a:path>
              </a:pathLst>
            </a:custGeom>
            <a:solidFill>
              <a:srgbClr val="29060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635500" cy="365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934450" y="1285875"/>
            <a:ext cx="29527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34450" y="2171700"/>
            <a:ext cx="2952750" cy="52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5"/>
              </a:lnSpc>
            </a:pPr>
            <a:r>
              <a:rPr lang="en-US" sz="397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&lt; 0.0001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87325" y="1285875"/>
            <a:ext cx="29527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ELECTRICITY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87325" y="2171700"/>
            <a:ext cx="2952750" cy="52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5"/>
              </a:lnSpc>
            </a:pPr>
            <a:r>
              <a:rPr lang="en-US" sz="397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0.7664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34450" y="4476750"/>
            <a:ext cx="29527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WATER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34450" y="5362575"/>
            <a:ext cx="2952750" cy="52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5"/>
              </a:lnSpc>
            </a:pPr>
            <a:r>
              <a:rPr lang="en-US" sz="397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0.0164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87325" y="4476750"/>
            <a:ext cx="29527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ELECTRICITY · Δ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87325" y="5362575"/>
            <a:ext cx="2952750" cy="52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5"/>
              </a:lnSpc>
            </a:pPr>
            <a:r>
              <a:rPr lang="en-US" sz="397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1.53×10⁻⁸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57250" y="5619750"/>
            <a:ext cx="6762750" cy="666750"/>
            <a:chOff x="0" y="0"/>
            <a:chExt cx="9017000" cy="889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17000" cy="889000"/>
            </a:xfrm>
            <a:custGeom>
              <a:avLst/>
              <a:gdLst/>
              <a:ahLst/>
              <a:cxnLst/>
              <a:rect r="r" b="b" t="t" l="l"/>
              <a:pathLst>
                <a:path h="889000" w="9017000">
                  <a:moveTo>
                    <a:pt x="42930" y="0"/>
                  </a:moveTo>
                  <a:lnTo>
                    <a:pt x="8974070" y="0"/>
                  </a:lnTo>
                  <a:cubicBezTo>
                    <a:pt x="8985456" y="0"/>
                    <a:pt x="8996376" y="4523"/>
                    <a:pt x="9004426" y="12574"/>
                  </a:cubicBezTo>
                  <a:cubicBezTo>
                    <a:pt x="9012477" y="20625"/>
                    <a:pt x="9017000" y="31544"/>
                    <a:pt x="9017000" y="42930"/>
                  </a:cubicBezTo>
                  <a:lnTo>
                    <a:pt x="9017000" y="846070"/>
                  </a:lnTo>
                  <a:cubicBezTo>
                    <a:pt x="9017000" y="857456"/>
                    <a:pt x="9012477" y="868375"/>
                    <a:pt x="9004426" y="876426"/>
                  </a:cubicBezTo>
                  <a:cubicBezTo>
                    <a:pt x="8996376" y="884477"/>
                    <a:pt x="8985456" y="889000"/>
                    <a:pt x="8974070" y="889000"/>
                  </a:cubicBezTo>
                  <a:lnTo>
                    <a:pt x="42930" y="889000"/>
                  </a:lnTo>
                  <a:cubicBezTo>
                    <a:pt x="31544" y="889000"/>
                    <a:pt x="20625" y="884477"/>
                    <a:pt x="12574" y="876426"/>
                  </a:cubicBezTo>
                  <a:cubicBezTo>
                    <a:pt x="4523" y="868375"/>
                    <a:pt x="0" y="857456"/>
                    <a:pt x="0" y="846070"/>
                  </a:cubicBezTo>
                  <a:lnTo>
                    <a:pt x="0" y="42930"/>
                  </a:lnTo>
                  <a:cubicBezTo>
                    <a:pt x="0" y="31544"/>
                    <a:pt x="4523" y="20625"/>
                    <a:pt x="12574" y="12574"/>
                  </a:cubicBezTo>
                  <a:cubicBezTo>
                    <a:pt x="20625" y="4523"/>
                    <a:pt x="31544" y="0"/>
                    <a:pt x="42930" y="0"/>
                  </a:cubicBezTo>
                  <a:close/>
                </a:path>
              </a:pathLst>
            </a:custGeom>
            <a:solidFill>
              <a:srgbClr val="FF5722"/>
            </a:soli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9017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Baseline: d=1 electricity · d=0 gas + water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57250" y="6524625"/>
            <a:ext cx="6762750" cy="666750"/>
            <a:chOff x="0" y="0"/>
            <a:chExt cx="9017000" cy="889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017000" cy="889000"/>
            </a:xfrm>
            <a:custGeom>
              <a:avLst/>
              <a:gdLst/>
              <a:ahLst/>
              <a:cxnLst/>
              <a:rect r="r" b="b" t="t" l="l"/>
              <a:pathLst>
                <a:path h="889000" w="9017000">
                  <a:moveTo>
                    <a:pt x="42930" y="0"/>
                  </a:moveTo>
                  <a:lnTo>
                    <a:pt x="8974070" y="0"/>
                  </a:lnTo>
                  <a:cubicBezTo>
                    <a:pt x="8985456" y="0"/>
                    <a:pt x="8996376" y="4523"/>
                    <a:pt x="9004426" y="12574"/>
                  </a:cubicBezTo>
                  <a:cubicBezTo>
                    <a:pt x="9012477" y="20625"/>
                    <a:pt x="9017000" y="31544"/>
                    <a:pt x="9017000" y="42930"/>
                  </a:cubicBezTo>
                  <a:lnTo>
                    <a:pt x="9017000" y="846070"/>
                  </a:lnTo>
                  <a:cubicBezTo>
                    <a:pt x="9017000" y="857456"/>
                    <a:pt x="9012477" y="868375"/>
                    <a:pt x="9004426" y="876426"/>
                  </a:cubicBezTo>
                  <a:cubicBezTo>
                    <a:pt x="8996376" y="884477"/>
                    <a:pt x="8985456" y="889000"/>
                    <a:pt x="8974070" y="889000"/>
                  </a:cubicBezTo>
                  <a:lnTo>
                    <a:pt x="42930" y="889000"/>
                  </a:lnTo>
                  <a:cubicBezTo>
                    <a:pt x="31544" y="889000"/>
                    <a:pt x="20625" y="884477"/>
                    <a:pt x="12574" y="876426"/>
                  </a:cubicBezTo>
                  <a:cubicBezTo>
                    <a:pt x="4523" y="868375"/>
                    <a:pt x="0" y="857456"/>
                    <a:pt x="0" y="846070"/>
                  </a:cubicBezTo>
                  <a:lnTo>
                    <a:pt x="0" y="42930"/>
                  </a:lnTo>
                  <a:cubicBezTo>
                    <a:pt x="0" y="31544"/>
                    <a:pt x="4523" y="20625"/>
                    <a:pt x="12574" y="12574"/>
                  </a:cubicBezTo>
                  <a:cubicBezTo>
                    <a:pt x="20625" y="4523"/>
                    <a:pt x="31544" y="0"/>
                    <a:pt x="42930" y="0"/>
                  </a:cubicBezTo>
                  <a:close/>
                </a:path>
              </a:pathLst>
            </a:custGeom>
            <a:solidFill>
              <a:srgbClr val="02B6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9017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SARIMA: D=1 · m=12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57250" y="9705975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AIML CA2 · TIME SERIES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73500" y="9686925"/>
            <a:ext cx="8572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800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63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52387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02B676"/>
                </a:solidFill>
                <a:latin typeface="DM Sans Bold"/>
                <a:ea typeface="DM Sans Bold"/>
                <a:cs typeface="DM Sans Bold"/>
                <a:sym typeface="DM Sans Bold"/>
              </a:rPr>
              <a:t>MODELLING WORKFLOW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257300"/>
            <a:ext cx="14287500" cy="749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Level → trend → seasonality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2952750"/>
            <a:ext cx="4572000" cy="1524000"/>
            <a:chOff x="0" y="0"/>
            <a:chExt cx="6096000" cy="203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96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096000">
                  <a:moveTo>
                    <a:pt x="58208" y="0"/>
                  </a:moveTo>
                  <a:lnTo>
                    <a:pt x="6037792" y="0"/>
                  </a:lnTo>
                  <a:cubicBezTo>
                    <a:pt x="6053229" y="0"/>
                    <a:pt x="6068035" y="6133"/>
                    <a:pt x="6078951" y="17049"/>
                  </a:cubicBezTo>
                  <a:cubicBezTo>
                    <a:pt x="6089867" y="27965"/>
                    <a:pt x="6096000" y="42771"/>
                    <a:pt x="6096000" y="58208"/>
                  </a:cubicBezTo>
                  <a:lnTo>
                    <a:pt x="6096000" y="1973792"/>
                  </a:lnTo>
                  <a:cubicBezTo>
                    <a:pt x="6096000" y="1989230"/>
                    <a:pt x="6089867" y="2004035"/>
                    <a:pt x="6078951" y="2014951"/>
                  </a:cubicBezTo>
                  <a:cubicBezTo>
                    <a:pt x="6068035" y="2025867"/>
                    <a:pt x="6053229" y="2032000"/>
                    <a:pt x="6037792" y="2032000"/>
                  </a:cubicBezTo>
                  <a:lnTo>
                    <a:pt x="58208" y="2032000"/>
                  </a:lnTo>
                  <a:cubicBezTo>
                    <a:pt x="42771" y="2032000"/>
                    <a:pt x="27965" y="2025867"/>
                    <a:pt x="17049" y="2014951"/>
                  </a:cubicBezTo>
                  <a:cubicBezTo>
                    <a:pt x="6133" y="2004035"/>
                    <a:pt x="0" y="1989230"/>
                    <a:pt x="0" y="1973792"/>
                  </a:cubicBezTo>
                  <a:lnTo>
                    <a:pt x="0" y="58208"/>
                  </a:lnTo>
                  <a:cubicBezTo>
                    <a:pt x="0" y="42771"/>
                    <a:pt x="6133" y="27965"/>
                    <a:pt x="17049" y="17049"/>
                  </a:cubicBezTo>
                  <a:cubicBezTo>
                    <a:pt x="27965" y="6133"/>
                    <a:pt x="42771" y="0"/>
                    <a:pt x="58208" y="0"/>
                  </a:cubicBezTo>
                  <a:close/>
                </a:path>
              </a:pathLst>
            </a:custGeom>
            <a:solidFill>
              <a:srgbClr val="FF5722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096000" cy="2060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27"/>
                </a:lnSpc>
              </a:pPr>
              <a:r>
                <a:rPr lang="en-US" sz="217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SES</a:t>
              </a:r>
            </a:p>
            <a:p>
              <a:pPr algn="ctr">
                <a:lnSpc>
                  <a:spcPts val="2827"/>
                </a:lnSpc>
              </a:pPr>
              <a:r>
                <a:rPr lang="en-US" sz="217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Level only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5572125" y="3714750"/>
            <a:ext cx="428625" cy="0"/>
          </a:xfrm>
          <a:prstGeom prst="line">
            <a:avLst/>
          </a:prstGeom>
          <a:ln cap="rnd" w="57150">
            <a:solidFill>
              <a:srgbClr val="02B67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6191250" y="2952750"/>
            <a:ext cx="4572000" cy="1524000"/>
            <a:chOff x="0" y="0"/>
            <a:chExt cx="6096000" cy="203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096000">
                  <a:moveTo>
                    <a:pt x="58208" y="0"/>
                  </a:moveTo>
                  <a:lnTo>
                    <a:pt x="6037792" y="0"/>
                  </a:lnTo>
                  <a:cubicBezTo>
                    <a:pt x="6053229" y="0"/>
                    <a:pt x="6068035" y="6133"/>
                    <a:pt x="6078951" y="17049"/>
                  </a:cubicBezTo>
                  <a:cubicBezTo>
                    <a:pt x="6089867" y="27965"/>
                    <a:pt x="6096000" y="42771"/>
                    <a:pt x="6096000" y="58208"/>
                  </a:cubicBezTo>
                  <a:lnTo>
                    <a:pt x="6096000" y="1973792"/>
                  </a:lnTo>
                  <a:cubicBezTo>
                    <a:pt x="6096000" y="1989230"/>
                    <a:pt x="6089867" y="2004035"/>
                    <a:pt x="6078951" y="2014951"/>
                  </a:cubicBezTo>
                  <a:cubicBezTo>
                    <a:pt x="6068035" y="2025867"/>
                    <a:pt x="6053229" y="2032000"/>
                    <a:pt x="6037792" y="2032000"/>
                  </a:cubicBezTo>
                  <a:lnTo>
                    <a:pt x="58208" y="2032000"/>
                  </a:lnTo>
                  <a:cubicBezTo>
                    <a:pt x="42771" y="2032000"/>
                    <a:pt x="27965" y="2025867"/>
                    <a:pt x="17049" y="2014951"/>
                  </a:cubicBezTo>
                  <a:cubicBezTo>
                    <a:pt x="6133" y="2004035"/>
                    <a:pt x="0" y="1989230"/>
                    <a:pt x="0" y="1973792"/>
                  </a:cubicBezTo>
                  <a:lnTo>
                    <a:pt x="0" y="58208"/>
                  </a:lnTo>
                  <a:cubicBezTo>
                    <a:pt x="0" y="42771"/>
                    <a:pt x="6133" y="27965"/>
                    <a:pt x="17049" y="17049"/>
                  </a:cubicBezTo>
                  <a:cubicBezTo>
                    <a:pt x="27965" y="6133"/>
                    <a:pt x="42771" y="0"/>
                    <a:pt x="58208" y="0"/>
                  </a:cubicBezTo>
                  <a:close/>
                </a:path>
              </a:pathLst>
            </a:custGeom>
            <a:solidFill>
              <a:srgbClr val="02B6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6096000" cy="2060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27"/>
                </a:lnSpc>
              </a:pPr>
              <a:r>
                <a:rPr lang="en-US" sz="217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HOLT–WINTERS</a:t>
              </a:r>
            </a:p>
            <a:p>
              <a:pPr algn="ctr">
                <a:lnSpc>
                  <a:spcPts val="2827"/>
                </a:lnSpc>
              </a:pPr>
              <a:r>
                <a:rPr lang="en-US" sz="217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Trend + seasonality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906125" y="3714750"/>
            <a:ext cx="428625" cy="0"/>
          </a:xfrm>
          <a:prstGeom prst="line">
            <a:avLst/>
          </a:prstGeom>
          <a:ln cap="rnd" w="57150">
            <a:solidFill>
              <a:srgbClr val="02B67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525250" y="2952750"/>
            <a:ext cx="4572000" cy="1524000"/>
            <a:chOff x="0" y="0"/>
            <a:chExt cx="6096000" cy="2032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96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096000">
                  <a:moveTo>
                    <a:pt x="58208" y="0"/>
                  </a:moveTo>
                  <a:lnTo>
                    <a:pt x="6037792" y="0"/>
                  </a:lnTo>
                  <a:cubicBezTo>
                    <a:pt x="6053229" y="0"/>
                    <a:pt x="6068035" y="6133"/>
                    <a:pt x="6078951" y="17049"/>
                  </a:cubicBezTo>
                  <a:cubicBezTo>
                    <a:pt x="6089867" y="27965"/>
                    <a:pt x="6096000" y="42771"/>
                    <a:pt x="6096000" y="58208"/>
                  </a:cubicBezTo>
                  <a:lnTo>
                    <a:pt x="6096000" y="1973792"/>
                  </a:lnTo>
                  <a:cubicBezTo>
                    <a:pt x="6096000" y="1989230"/>
                    <a:pt x="6089867" y="2004035"/>
                    <a:pt x="6078951" y="2014951"/>
                  </a:cubicBezTo>
                  <a:cubicBezTo>
                    <a:pt x="6068035" y="2025867"/>
                    <a:pt x="6053229" y="2032000"/>
                    <a:pt x="6037792" y="2032000"/>
                  </a:cubicBezTo>
                  <a:lnTo>
                    <a:pt x="58208" y="2032000"/>
                  </a:lnTo>
                  <a:cubicBezTo>
                    <a:pt x="42771" y="2032000"/>
                    <a:pt x="27965" y="2025867"/>
                    <a:pt x="17049" y="2014951"/>
                  </a:cubicBezTo>
                  <a:cubicBezTo>
                    <a:pt x="6133" y="2004035"/>
                    <a:pt x="0" y="1989230"/>
                    <a:pt x="0" y="1973792"/>
                  </a:cubicBezTo>
                  <a:lnTo>
                    <a:pt x="0" y="58208"/>
                  </a:lnTo>
                  <a:cubicBezTo>
                    <a:pt x="0" y="42771"/>
                    <a:pt x="6133" y="27965"/>
                    <a:pt x="17049" y="17049"/>
                  </a:cubicBezTo>
                  <a:cubicBezTo>
                    <a:pt x="27965" y="6133"/>
                    <a:pt x="42771" y="0"/>
                    <a:pt x="58208" y="0"/>
                  </a:cubicBezTo>
                  <a:close/>
                </a:path>
              </a:pathLst>
            </a:custGeom>
            <a:solidFill>
              <a:srgbClr val="7B22E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6096000" cy="2060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27"/>
                </a:lnSpc>
              </a:pPr>
              <a:r>
                <a:rPr lang="en-US" sz="217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SARIMA</a:t>
              </a:r>
            </a:p>
            <a:p>
              <a:pPr algn="ctr">
                <a:lnSpc>
                  <a:spcPts val="2827"/>
                </a:lnSpc>
              </a:pPr>
              <a:r>
                <a:rPr lang="en-US" sz="217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Seasonal AR + differencing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57250" y="5410200"/>
            <a:ext cx="7429500" cy="1033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HW choices</a:t>
            </a:r>
          </a:p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Electricity: multiplicative trend + additive seasonal</a:t>
            </a:r>
          </a:p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Gas &amp; Water: additive trend + seasonality, m=12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0" y="5410200"/>
            <a:ext cx="7239000" cy="137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BASELINE SARIMA ORDERS</a:t>
            </a:r>
          </a:p>
          <a:p>
            <a:pPr algn="l">
              <a:lnSpc>
                <a:spcPts val="2718"/>
              </a:lnSpc>
            </a:pPr>
            <a:r>
              <a:rPr lang="en-US" sz="217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ELECTRICITY   (1,1,1)(1,1,1,12)</a:t>
            </a:r>
          </a:p>
          <a:p>
            <a:pPr algn="l">
              <a:lnSpc>
                <a:spcPts val="2718"/>
              </a:lnSpc>
            </a:pPr>
            <a:r>
              <a:rPr lang="en-US" sz="217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GAS                  (1,0,1)(1,1,1,12)</a:t>
            </a:r>
          </a:p>
          <a:p>
            <a:pPr algn="l">
              <a:lnSpc>
                <a:spcPts val="2718"/>
              </a:lnSpc>
            </a:pPr>
            <a:r>
              <a:rPr lang="en-US" sz="217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WATER              (2,0,1)(2,1,1,12)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9705975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02B676"/>
                </a:solidFill>
                <a:latin typeface="DM Sans Bold"/>
                <a:ea typeface="DM Sans Bold"/>
                <a:cs typeface="DM Sans Bold"/>
                <a:sym typeface="DM Sans Bold"/>
              </a:rPr>
              <a:t>AIML CA2 · TIME SERIES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73500" y="9686925"/>
            <a:ext cx="8572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8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3810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7B22E8"/>
                </a:solidFill>
                <a:latin typeface="DM Sans Bold"/>
                <a:ea typeface="DM Sans Bold"/>
                <a:cs typeface="DM Sans Bold"/>
                <a:sym typeface="DM Sans Bold"/>
              </a:rPr>
              <a:t>TEST MAPE (%)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257300"/>
            <a:ext cx="9525000" cy="77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3"/>
              </a:lnSpc>
            </a:pPr>
            <a:r>
              <a:rPr lang="en-US" sz="5850">
                <a:solidFill>
                  <a:srgbClr val="290606"/>
                </a:solidFill>
                <a:latin typeface="Archivo Black"/>
                <a:ea typeface="Archivo Black"/>
                <a:cs typeface="Archivo Black"/>
                <a:sym typeface="Archivo Black"/>
              </a:rPr>
              <a:t>Lower is better.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4875" y="2133600"/>
            <a:ext cx="5715000" cy="3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>
                <a:solidFill>
                  <a:srgbClr val="290606"/>
                </a:solidFill>
                <a:latin typeface="DM Sans"/>
                <a:ea typeface="DM Sans"/>
                <a:cs typeface="DM Sans"/>
                <a:sym typeface="DM Sans"/>
              </a:rPr>
              <a:t>Aligned baseline comparison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866654" y="1468049"/>
            <a:ext cx="20021309" cy="8970152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57250" y="9705975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AIML CA2 · TIME SERIES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73500" y="9686925"/>
            <a:ext cx="8572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800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6191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7B22E8"/>
                </a:solidFill>
                <a:latin typeface="DM Sans Bold"/>
                <a:ea typeface="DM Sans Bold"/>
                <a:cs typeface="DM Sans Bold"/>
                <a:sym typeface="DM Sans Bold"/>
              </a:rPr>
              <a:t>HYPERPARAMETER SEARCH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257300"/>
            <a:ext cx="8572500" cy="145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5700">
                <a:solidFill>
                  <a:srgbClr val="290606"/>
                </a:solidFill>
                <a:latin typeface="Archivo Black"/>
                <a:ea typeface="Archivo Black"/>
                <a:cs typeface="Archivo Black"/>
                <a:sym typeface="Archivo Black"/>
              </a:rPr>
              <a:t>Search wide.</a:t>
            </a:r>
          </a:p>
          <a:p>
            <a:pPr algn="l">
              <a:lnSpc>
                <a:spcPts val="5586"/>
              </a:lnSpc>
            </a:pPr>
            <a:r>
              <a:rPr lang="en-US" sz="5700">
                <a:solidFill>
                  <a:srgbClr val="290606"/>
                </a:solidFill>
                <a:latin typeface="Archivo Black"/>
                <a:ea typeface="Archivo Black"/>
                <a:cs typeface="Archivo Black"/>
                <a:sym typeface="Archivo Black"/>
              </a:rPr>
              <a:t>Select on validation.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4875" y="3238500"/>
            <a:ext cx="7239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68" b="true">
                <a:solidFill>
                  <a:srgbClr val="FF5722"/>
                </a:solidFill>
                <a:latin typeface="DM Sans Bold"/>
                <a:ea typeface="DM Sans Bold"/>
                <a:cs typeface="DM Sans Bold"/>
                <a:sym typeface="DM Sans Bold"/>
              </a:rPr>
              <a:t>VALIDATION SCORES — NOT TEST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7250" y="4476750"/>
            <a:ext cx="4762500" cy="4000500"/>
            <a:chOff x="0" y="0"/>
            <a:chExt cx="6350000" cy="533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350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77000" y="4476750"/>
            <a:ext cx="4762500" cy="4000500"/>
            <a:chOff x="0" y="0"/>
            <a:chExt cx="6350000" cy="533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350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96750" y="4476750"/>
            <a:ext cx="4762500" cy="4000500"/>
            <a:chOff x="0" y="0"/>
            <a:chExt cx="6350000" cy="533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7B22E8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350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23950" y="4724400"/>
            <a:ext cx="40957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ELECTRICITY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3950" y="5457825"/>
            <a:ext cx="4095750" cy="543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sz="412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144 searches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3950" y="6467475"/>
            <a:ext cx="4095750" cy="3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Best validation MAPE  4.03%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3950" y="7467600"/>
            <a:ext cx="4095750" cy="29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✓  (1,1,0)(3,1,1,12)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43700" y="4724400"/>
            <a:ext cx="40957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43700" y="5457825"/>
            <a:ext cx="4095750" cy="543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sz="412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81 searches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43700" y="6467475"/>
            <a:ext cx="4095750" cy="3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Best validation MAPE  21.97%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43700" y="7467600"/>
            <a:ext cx="4095750" cy="29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✓  (0,1,0)(2,1,0,12)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63450" y="4724400"/>
            <a:ext cx="40957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WATER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63450" y="5457825"/>
            <a:ext cx="4095750" cy="543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sz="412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108 searches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63450" y="6467475"/>
            <a:ext cx="4095750" cy="3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Best validation MAPE  35.80%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63450" y="7467600"/>
            <a:ext cx="4095750" cy="29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✓  (3,0,2)(3,1,1,12)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7250" y="9705975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AIML CA2 · TIME SERIES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573500" y="9686925"/>
            <a:ext cx="8572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800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63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476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pc="144" strike="noStrike" u="none">
                <a:solidFill>
                  <a:srgbClr val="02B676"/>
                </a:solidFill>
                <a:latin typeface="DM Sans Bold"/>
                <a:ea typeface="DM Sans Bold"/>
                <a:cs typeface="DM Sans Bold"/>
                <a:sym typeface="DM Sans Bold"/>
              </a:rPr>
              <a:t>TUNING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257300"/>
            <a:ext cx="13811250" cy="749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86"/>
              </a:lnSpc>
              <a:spcBef>
                <a:spcPct val="0"/>
              </a:spcBef>
            </a:pPr>
            <a:r>
              <a:rPr lang="en-US" sz="5700" strike="noStrike" u="non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performance after tuning.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7250" y="2314575"/>
            <a:ext cx="14668500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2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Notebook-reported MAPE: Electricity 3.33%, Gas 20.29%, Water 19.97%.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28750" y="4095750"/>
            <a:ext cx="4953000" cy="1428750"/>
            <a:chOff x="0" y="0"/>
            <a:chExt cx="6604000" cy="1905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6604000">
                  <a:moveTo>
                    <a:pt x="58615" y="0"/>
                  </a:moveTo>
                  <a:lnTo>
                    <a:pt x="6545385" y="0"/>
                  </a:lnTo>
                  <a:cubicBezTo>
                    <a:pt x="6577757" y="0"/>
                    <a:pt x="6604000" y="26243"/>
                    <a:pt x="6604000" y="58615"/>
                  </a:cubicBezTo>
                  <a:lnTo>
                    <a:pt x="6604000" y="1846385"/>
                  </a:lnTo>
                  <a:cubicBezTo>
                    <a:pt x="6604000" y="1878757"/>
                    <a:pt x="6577757" y="1905000"/>
                    <a:pt x="6545385" y="1905000"/>
                  </a:cubicBezTo>
                  <a:lnTo>
                    <a:pt x="58615" y="1905000"/>
                  </a:lnTo>
                  <a:cubicBezTo>
                    <a:pt x="26243" y="1905000"/>
                    <a:pt x="0" y="1878757"/>
                    <a:pt x="0" y="1846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5722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6604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b="true" sz="1950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Electricity</a:t>
              </a:r>
            </a:p>
            <a:p>
              <a:pPr algn="ctr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b="true" sz="1950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SARIMA: 12.35% to 3.33%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06250" y="4095750"/>
            <a:ext cx="4953000" cy="1428750"/>
            <a:chOff x="0" y="0"/>
            <a:chExt cx="6604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6604000">
                  <a:moveTo>
                    <a:pt x="58615" y="0"/>
                  </a:moveTo>
                  <a:lnTo>
                    <a:pt x="6545385" y="0"/>
                  </a:lnTo>
                  <a:cubicBezTo>
                    <a:pt x="6577757" y="0"/>
                    <a:pt x="6604000" y="26243"/>
                    <a:pt x="6604000" y="58615"/>
                  </a:cubicBezTo>
                  <a:lnTo>
                    <a:pt x="6604000" y="1846385"/>
                  </a:lnTo>
                  <a:cubicBezTo>
                    <a:pt x="6604000" y="1878757"/>
                    <a:pt x="6577757" y="1905000"/>
                    <a:pt x="6545385" y="1905000"/>
                  </a:cubicBezTo>
                  <a:lnTo>
                    <a:pt x="58615" y="1905000"/>
                  </a:lnTo>
                  <a:cubicBezTo>
                    <a:pt x="26243" y="1905000"/>
                    <a:pt x="0" y="1878757"/>
                    <a:pt x="0" y="1846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7B22E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6604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b="true" sz="1950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Gas / Water</a:t>
              </a:r>
            </a:p>
            <a:p>
              <a:pPr algn="ctr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b="true" sz="1950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Tuned SARIMA: 20.29% / 19.97%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667500" y="4810125"/>
            <a:ext cx="4905375" cy="0"/>
          </a:xfrm>
          <a:prstGeom prst="line">
            <a:avLst/>
          </a:prstGeom>
          <a:ln cap="rnd" w="95250">
            <a:solidFill>
              <a:srgbClr val="FFD5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7905750" y="4324350"/>
            <a:ext cx="2476500" cy="25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11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FFD54A"/>
                </a:solidFill>
                <a:latin typeface="Archivo Black"/>
                <a:ea typeface="Archivo Black"/>
                <a:cs typeface="Archivo Black"/>
                <a:sym typeface="Archivo Black"/>
              </a:rPr>
              <a:t>REPORTED MAPE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750" y="6410325"/>
            <a:ext cx="952500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Gas Holt–Winters: 9.98%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Water baseline SARIMA: 17.87%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06250" y="6419850"/>
            <a:ext cx="4953000" cy="939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1"/>
              </a:lnSpc>
              <a:spcBef>
                <a:spcPct val="0"/>
              </a:spcBef>
            </a:pPr>
            <a:r>
              <a:rPr lang="en-US" b="true" sz="2025" strike="noStrike" u="non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Tuning helps electricity in the reported results.</a:t>
            </a:r>
          </a:p>
          <a:p>
            <a:pPr algn="l" marL="0" indent="0" lvl="0">
              <a:lnSpc>
                <a:spcPts val="2531"/>
              </a:lnSpc>
              <a:spcBef>
                <a:spcPct val="0"/>
              </a:spcBef>
            </a:pPr>
            <a:r>
              <a:rPr lang="en-US" b="true" sz="2025" strike="noStrike" u="non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Gas and water retain other models.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7250" y="9705975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02B676"/>
                </a:solidFill>
                <a:latin typeface="DM Sans Bold"/>
                <a:ea typeface="DM Sans Bold"/>
                <a:cs typeface="DM Sans Bold"/>
                <a:sym typeface="DM Sans Bold"/>
              </a:rPr>
              <a:t>AIML CA2 · TIME SERIES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73500" y="9686925"/>
            <a:ext cx="8572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8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3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87250" y="1333500"/>
            <a:ext cx="4762500" cy="4762500"/>
          </a:xfrm>
          <a:custGeom>
            <a:avLst/>
            <a:gdLst/>
            <a:ahLst/>
            <a:cxnLst/>
            <a:rect r="r" b="b" t="t" l="l"/>
            <a:pathLst>
              <a:path h="4762500" w="4762500">
                <a:moveTo>
                  <a:pt x="0" y="0"/>
                </a:moveTo>
                <a:lnTo>
                  <a:pt x="4762500" y="0"/>
                </a:lnTo>
                <a:lnTo>
                  <a:pt x="4762500" y="4762500"/>
                </a:lnTo>
                <a:lnTo>
                  <a:pt x="0" y="476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5905500"/>
            <a:ext cx="18288000" cy="3143250"/>
            <a:chOff x="0" y="0"/>
            <a:chExt cx="24384000" cy="419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422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57250" y="581025"/>
            <a:ext cx="857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02B676"/>
                </a:solidFill>
                <a:latin typeface="DM Sans Bold"/>
                <a:ea typeface="DM Sans Bold"/>
                <a:cs typeface="DM Sans Bold"/>
                <a:sym typeface="DM Sans Bold"/>
              </a:rPr>
              <a:t>ELECTRICITY · FEB 2023 — JAN 2028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1304925"/>
            <a:ext cx="10477500" cy="149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3"/>
              </a:lnSpc>
            </a:pPr>
            <a:r>
              <a:rPr lang="en-US" sz="58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Seasonal growth,</a:t>
            </a:r>
          </a:p>
          <a:p>
            <a:pPr algn="l">
              <a:lnSpc>
                <a:spcPts val="5733"/>
              </a:lnSpc>
            </a:pPr>
            <a:r>
              <a:rPr lang="en-US" sz="58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with wide uncertainty.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4875" y="3133725"/>
            <a:ext cx="8096250" cy="3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Full-history SARIMA (1,1,0)(3,1,1,12)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6315075"/>
            <a:ext cx="4572000" cy="94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9"/>
              </a:lnSpc>
            </a:pPr>
            <a:r>
              <a:rPr lang="en-US" sz="70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1175.0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7343775"/>
            <a:ext cx="4095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1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FIRST · MWh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05500" y="6315075"/>
            <a:ext cx="4762500" cy="94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9"/>
              </a:lnSpc>
            </a:pPr>
            <a:r>
              <a:rPr lang="en-US" sz="70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1401.9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00750" y="7343775"/>
            <a:ext cx="4095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1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LAST · MWh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34750" y="6276975"/>
            <a:ext cx="5905500" cy="108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32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Mean  994.4 → 1401.9 MWh</a:t>
            </a:r>
          </a:p>
          <a:p>
            <a:pPr algn="l">
              <a:lnSpc>
                <a:spcPts val="2906"/>
              </a:lnSpc>
            </a:pPr>
            <a:r>
              <a:rPr lang="en-US" sz="232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95% model envelope  663.4 → 1870.0 MWh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82375" y="7896225"/>
            <a:ext cx="5715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Envelope extremes occur on different dates.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7250" y="9705975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02B676"/>
                </a:solidFill>
                <a:latin typeface="DM Sans Bold"/>
                <a:ea typeface="DM Sans Bold"/>
                <a:cs typeface="DM Sans Bold"/>
                <a:sym typeface="DM Sans Bold"/>
              </a:rPr>
              <a:t>AIML CA2 · TIME SERIES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73500" y="9686925"/>
            <a:ext cx="8572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8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476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7B22E8"/>
                </a:solidFill>
                <a:latin typeface="DM Sans Bold"/>
                <a:ea typeface="DM Sans Bold"/>
                <a:cs typeface="DM Sans Bold"/>
                <a:sym typeface="DM Sans Bold"/>
              </a:rPr>
              <a:t>60-MONTH FORECASTS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238250"/>
            <a:ext cx="14287500" cy="67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8"/>
              </a:lnSpc>
            </a:pPr>
            <a:r>
              <a:rPr lang="en-US" sz="5100">
                <a:solidFill>
                  <a:srgbClr val="290606"/>
                </a:solidFill>
                <a:latin typeface="Archivo Black"/>
                <a:ea typeface="Archivo Black"/>
                <a:cs typeface="Archivo Black"/>
                <a:sym typeface="Archivo Black"/>
              </a:rPr>
              <a:t>Two utilities. Two uncertainty stories.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2857500"/>
            <a:ext cx="8096250" cy="5905500"/>
            <a:chOff x="0" y="0"/>
            <a:chExt cx="10795000" cy="787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95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795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34500" y="2857500"/>
            <a:ext cx="8096250" cy="5905500"/>
            <a:chOff x="0" y="0"/>
            <a:chExt cx="10795000" cy="787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95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7B22E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795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90625" y="3190875"/>
            <a:ext cx="7429500" cy="4665821"/>
            <a:chOff x="0" y="0"/>
            <a:chExt cx="9906000" cy="6221095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9906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1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GAS · ADDITIVE HW, m=12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320800"/>
              <a:ext cx="4445000" cy="1037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86"/>
                </a:lnSpc>
              </a:pPr>
              <a:r>
                <a:rPr lang="en-US" sz="57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30.4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3500" y="2447925"/>
              <a:ext cx="381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FIRST · tons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143500" y="1320800"/>
              <a:ext cx="4445000" cy="1037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86"/>
                </a:lnSpc>
              </a:pPr>
              <a:r>
                <a:rPr lang="en-US" sz="57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33.6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207000" y="2447925"/>
              <a:ext cx="381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LAST · tons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3600450"/>
              <a:ext cx="9906000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2"/>
                </a:lnSpc>
              </a:pPr>
              <a:r>
                <a:rPr lang="en-US" sz="22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Mean 29.8—33.6 tons</a:t>
              </a:r>
            </a:p>
            <a:p>
              <a:pPr algn="l">
                <a:lnSpc>
                  <a:spcPts val="2812"/>
                </a:lnSpc>
              </a:pPr>
              <a:r>
                <a:rPr lang="en-US" sz="22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Band 22.9—40.6 tons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5524500"/>
              <a:ext cx="99060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72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Residual ±1.96 SD heuristic; constant width 13.9. Not a calibrated horizon-specific interval.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67875" y="3190875"/>
            <a:ext cx="7429500" cy="4399121"/>
            <a:chOff x="0" y="0"/>
            <a:chExt cx="9906000" cy="5865495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38100"/>
              <a:ext cx="9906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1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WATER · SARIMA (2,1,1)(2,1,1,12)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320800"/>
              <a:ext cx="4445000" cy="1037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86"/>
                </a:lnSpc>
              </a:pPr>
              <a:r>
                <a:rPr lang="en-US" sz="57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400.9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3500" y="2447925"/>
              <a:ext cx="381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FIRST · tons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143500" y="1320800"/>
              <a:ext cx="4445000" cy="1037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86"/>
                </a:lnSpc>
              </a:pPr>
              <a:r>
                <a:rPr lang="en-US" sz="57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498.9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207000" y="2447925"/>
              <a:ext cx="381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LAST · tons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3600450"/>
              <a:ext cx="9906000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2"/>
                </a:lnSpc>
              </a:pPr>
              <a:r>
                <a:rPr lang="en-US" sz="22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Mean 400.9—575.7 tons</a:t>
              </a:r>
            </a:p>
            <a:p>
              <a:pPr algn="l">
                <a:lnSpc>
                  <a:spcPts val="2812"/>
                </a:lnSpc>
              </a:pPr>
              <a:r>
                <a:rPr lang="en-US" sz="22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95% envelope 195.3—842.2 tons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5524500"/>
              <a:ext cx="9906000" cy="340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The interval range summarises the full 60-month forecast.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57250" y="9705975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AIML CA2 · TIME SERIES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573500" y="9686925"/>
            <a:ext cx="8572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800" b="true">
                <a:solidFill>
                  <a:srgbClr val="290606"/>
                </a:solidFill>
                <a:latin typeface="DM Sans Bold"/>
                <a:ea typeface="DM Sans Bold"/>
                <a:cs typeface="DM Sans Bold"/>
                <a:sym typeface="DM San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34750" y="762372"/>
            <a:ext cx="5905500" cy="3714006"/>
          </a:xfrm>
          <a:custGeom>
            <a:avLst/>
            <a:gdLst/>
            <a:ahLst/>
            <a:cxnLst/>
            <a:rect r="r" b="b" t="t" l="l"/>
            <a:pathLst>
              <a:path h="3714006" w="5905500">
                <a:moveTo>
                  <a:pt x="0" y="0"/>
                </a:moveTo>
                <a:lnTo>
                  <a:pt x="5905500" y="0"/>
                </a:lnTo>
                <a:lnTo>
                  <a:pt x="5905500" y="3714006"/>
                </a:lnTo>
                <a:lnTo>
                  <a:pt x="0" y="3714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5334000"/>
            <a:ext cx="18288000" cy="4953000"/>
            <a:chOff x="0" y="0"/>
            <a:chExt cx="24384000" cy="660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57250" y="581025"/>
            <a:ext cx="3810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7B22E8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1276350"/>
            <a:ext cx="10001250" cy="238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74"/>
              </a:lnSpc>
              <a:spcBef>
                <a:spcPct val="0"/>
              </a:spcBef>
            </a:pPr>
            <a:r>
              <a:rPr lang="en-US" sz="6300" strike="noStrike" u="none">
                <a:solidFill>
                  <a:srgbClr val="290606"/>
                </a:solidFill>
                <a:latin typeface="Archivo Black"/>
                <a:ea typeface="Archivo Black"/>
                <a:cs typeface="Archivo Black"/>
                <a:sym typeface="Archivo Black"/>
              </a:rPr>
              <a:t>Seasonal models.</a:t>
            </a:r>
          </a:p>
          <a:p>
            <a:pPr algn="l" marL="0" indent="0" lvl="0">
              <a:lnSpc>
                <a:spcPts val="6174"/>
              </a:lnSpc>
              <a:spcBef>
                <a:spcPct val="0"/>
              </a:spcBef>
            </a:pPr>
            <a:r>
              <a:rPr lang="en-US" sz="6300" strike="noStrike" u="none">
                <a:solidFill>
                  <a:srgbClr val="290606"/>
                </a:solidFill>
                <a:latin typeface="Archivo Black"/>
                <a:ea typeface="Archivo Black"/>
                <a:cs typeface="Archivo Black"/>
                <a:sym typeface="Archivo Black"/>
              </a:rPr>
              <a:t>Different utility patterns.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5724525"/>
            <a:ext cx="5715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pc="144" strike="noStrike" u="non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NOTEBOOK MODEL CHOICES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6343650"/>
            <a:ext cx="7429500" cy="1233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0"/>
              </a:lnSpc>
              <a:spcBef>
                <a:spcPct val="0"/>
              </a:spcBef>
            </a:pPr>
            <a:r>
              <a:rPr lang="en-US" sz="3225" strike="noStrike" u="non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ELECTRICITY · TUNED SARIMA</a:t>
            </a:r>
          </a:p>
          <a:p>
            <a:pPr algn="l" marL="0" indent="0" lvl="0">
              <a:lnSpc>
                <a:spcPts val="3160"/>
              </a:lnSpc>
              <a:spcBef>
                <a:spcPct val="0"/>
              </a:spcBef>
            </a:pPr>
            <a:r>
              <a:rPr lang="en-US" sz="3225" strike="noStrike" u="non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GAS · HOLT–WINTERS</a:t>
            </a:r>
          </a:p>
          <a:p>
            <a:pPr algn="l" marL="0" indent="0" lvl="0">
              <a:lnSpc>
                <a:spcPts val="3160"/>
              </a:lnSpc>
              <a:spcBef>
                <a:spcPct val="0"/>
              </a:spcBef>
            </a:pPr>
            <a:r>
              <a:rPr lang="en-US" sz="3225" strike="noStrike" u="non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WATER · BASELINE SARIMA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10750" y="5695950"/>
            <a:ext cx="6667500" cy="141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2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FORECAST INSIGHTS</a:t>
            </a:r>
          </a:p>
          <a:p>
            <a:pPr algn="l" marL="0" indent="0" lvl="0">
              <a:lnSpc>
                <a:spcPts val="2812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Electricity: upward trend and annual cycle</a:t>
            </a:r>
          </a:p>
          <a:p>
            <a:pPr algn="l" marL="0" indent="0" lvl="0">
              <a:lnSpc>
                <a:spcPts val="2812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Gas: mild growth with seasonal variation</a:t>
            </a:r>
          </a:p>
          <a:p>
            <a:pPr algn="l" marL="0" indent="0" lvl="0">
              <a:lnSpc>
                <a:spcPts val="2812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Water: variable usage and wide uncertainty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10750" y="8620125"/>
            <a:ext cx="6667500" cy="25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6"/>
              </a:lnSpc>
              <a:spcBef>
                <a:spcPct val="0"/>
              </a:spcBef>
            </a:pPr>
            <a:r>
              <a:rPr lang="en-US" sz="172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models use the full history to forecast the next 60 months.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250" y="9705975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02B676"/>
                </a:solidFill>
                <a:latin typeface="DM Sans Bold"/>
                <a:ea typeface="DM Sans Bold"/>
                <a:cs typeface="DM Sans Bold"/>
                <a:sym typeface="DM Sans Bold"/>
              </a:rPr>
              <a:t>AIML CA2 · TIME SERIES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73500" y="9686925"/>
            <a:ext cx="8572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8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DAHXQhnr04I</dc:identifier>
  <dcterms:modified xsi:type="dcterms:W3CDTF">2011-08-01T06:04:30Z</dcterms:modified>
  <cp:revision>1</cp:revision>
  <dc:title>Energy Consumption Forecasting</dc:title>
</cp:coreProperties>
</file>